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8" r:id="rId2"/>
    <p:sldId id="260" r:id="rId3"/>
    <p:sldId id="261" r:id="rId4"/>
    <p:sldId id="267" r:id="rId5"/>
    <p:sldId id="263" r:id="rId6"/>
    <p:sldId id="265" r:id="rId7"/>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66" autoAdjust="0"/>
    <p:restoredTop sz="65796" autoAdjust="0"/>
  </p:normalViewPr>
  <p:slideViewPr>
    <p:cSldViewPr snapToGrid="0">
      <p:cViewPr varScale="1">
        <p:scale>
          <a:sx n="65" d="100"/>
          <a:sy n="65" d="100"/>
        </p:scale>
        <p:origin x="2238" y="2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20BB3-3CCB-4FE5-991B-82F6BCB48AF3}" type="datetimeFigureOut">
              <a:rPr lang="en-US" smtClean="0"/>
              <a:t>12/14/2025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46DE6-3336-457D-A091-FA20AC1C536E}" type="slidenum">
              <a:rPr lang="en-US" smtClean="0"/>
              <a:t>‹#›</a:t>
            </a:fld>
            <a:endParaRPr lang="en-US"/>
          </a:p>
        </p:txBody>
      </p:sp>
    </p:spTree>
    <p:extLst>
      <p:ext uri="{BB962C8B-B14F-4D97-AF65-F5344CB8AC3E}">
        <p14:creationId xmlns:p14="http://schemas.microsoft.com/office/powerpoint/2010/main" val="856294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speaker notes required for this slide.</a:t>
            </a:r>
          </a:p>
        </p:txBody>
      </p:sp>
      <p:sp>
        <p:nvSpPr>
          <p:cNvPr id="4" name="Slide Number Placeholder 3"/>
          <p:cNvSpPr>
            <a:spLocks noGrp="1"/>
          </p:cNvSpPr>
          <p:nvPr>
            <p:ph type="sldNum" sz="quarter" idx="10"/>
          </p:nvPr>
        </p:nvSpPr>
        <p:spPr/>
        <p:txBody>
          <a:bodyPr/>
          <a:lstStyle/>
          <a:p>
            <a:fld id="{E0746DE6-3336-457D-A091-FA20AC1C536E}" type="slidenum">
              <a:rPr lang="en-US" smtClean="0"/>
              <a:t>1</a:t>
            </a:fld>
            <a:endParaRPr lang="en-US"/>
          </a:p>
        </p:txBody>
      </p:sp>
    </p:spTree>
    <p:extLst>
      <p:ext uri="{BB962C8B-B14F-4D97-AF65-F5344CB8AC3E}">
        <p14:creationId xmlns:p14="http://schemas.microsoft.com/office/powerpoint/2010/main" val="4216242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DriverPass System Analysis presentation. Today I will walk you through our proposed system design for your driver training business.</a:t>
            </a:r>
          </a:p>
          <a:p>
            <a:r>
              <a:rPr lang="en-US" dirty="0"/>
              <a:t>The DriverPass system is designed to help your customers prepare for their DMV driving tests through online classes, practice tests, and on-the-road training sessions. Our goal is to create a comprehensive platform that allows you to manage all aspects of your business from anywhere with an internet connection.</a:t>
            </a:r>
          </a:p>
          <a:p>
            <a:r>
              <a:rPr lang="en-US" dirty="0"/>
              <a:t>Let me begin by explaining the key requirements we identified for your system.</a:t>
            </a:r>
          </a:p>
        </p:txBody>
      </p:sp>
      <p:sp>
        <p:nvSpPr>
          <p:cNvPr id="4" name="Slide Number Placeholder 3"/>
          <p:cNvSpPr>
            <a:spLocks noGrp="1"/>
          </p:cNvSpPr>
          <p:nvPr>
            <p:ph type="sldNum" sz="quarter" idx="10"/>
          </p:nvPr>
        </p:nvSpPr>
        <p:spPr/>
        <p:txBody>
          <a:bodyPr/>
          <a:lstStyle/>
          <a:p>
            <a:fld id="{E0746DE6-3336-457D-A091-FA20AC1C536E}" type="slidenum">
              <a:rPr lang="en-US" smtClean="0"/>
              <a:t>2</a:t>
            </a:fld>
            <a:endParaRPr lang="en-US"/>
          </a:p>
        </p:txBody>
      </p:sp>
    </p:spTree>
    <p:extLst>
      <p:ext uri="{BB962C8B-B14F-4D97-AF65-F5344CB8AC3E}">
        <p14:creationId xmlns:p14="http://schemas.microsoft.com/office/powerpoint/2010/main" val="3399264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all the people who will interact with the DriverPass system and what they can do.</a:t>
            </a:r>
          </a:p>
          <a:p>
            <a:r>
              <a:rPr lang="en-US" dirty="0"/>
              <a:t>On the left side, we have your internal team: You as the owner can generate activity reports and disable packages. Your IT officer Ian can manage all user accounts, reset passwords, and block access when needed. Your secretary can help customers schedule appointments and register new users.</a:t>
            </a:r>
          </a:p>
          <a:p>
            <a:r>
              <a:rPr lang="en-US" dirty="0"/>
              <a:t>On the right side, we have your customers. They can log into the system, view their information, make and modify reservations for driving lessons, take online practice tests, and register for your services.</a:t>
            </a:r>
          </a:p>
          <a:p>
            <a:r>
              <a:rPr lang="en-US" dirty="0"/>
              <a:t>At the bottom, we show the connection to the DMV, which will send updates about rules and policies to keep your training materials current.</a:t>
            </a:r>
          </a:p>
          <a:p>
            <a:r>
              <a:rPr lang="en-US" dirty="0"/>
              <a:t>This design ensures that each person has access to exactly what they need which helps keep your data secure and your operations running smoothly.</a:t>
            </a:r>
          </a:p>
        </p:txBody>
      </p:sp>
      <p:sp>
        <p:nvSpPr>
          <p:cNvPr id="4" name="Slide Number Placeholder 3"/>
          <p:cNvSpPr>
            <a:spLocks noGrp="1"/>
          </p:cNvSpPr>
          <p:nvPr>
            <p:ph type="sldNum" sz="quarter" idx="10"/>
          </p:nvPr>
        </p:nvSpPr>
        <p:spPr/>
        <p:txBody>
          <a:bodyPr/>
          <a:lstStyle/>
          <a:p>
            <a:fld id="{E0746DE6-3336-457D-A091-FA20AC1C536E}" type="slidenum">
              <a:rPr lang="en-US" smtClean="0"/>
              <a:t>3</a:t>
            </a:fld>
            <a:endParaRPr lang="en-US"/>
          </a:p>
        </p:txBody>
      </p:sp>
    </p:spTree>
    <p:extLst>
      <p:ext uri="{BB962C8B-B14F-4D97-AF65-F5344CB8AC3E}">
        <p14:creationId xmlns:p14="http://schemas.microsoft.com/office/powerpoint/2010/main" val="2262835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the step-by-step process for scheduling a driving lesson, which is one of the most important features your customers will use.</a:t>
            </a:r>
          </a:p>
          <a:p>
            <a:r>
              <a:rPr lang="en-US" dirty="0"/>
              <a:t>First, the customer logs into the system and selects which package they want - Package One with six hours, Package Two with eight hours, or Package Three with twelve hours of training.</a:t>
            </a:r>
          </a:p>
          <a:p>
            <a:r>
              <a:rPr lang="en-US" dirty="0"/>
              <a:t>Next, they choose their preferred date and time for their two-hour lesson. The system then checks if a driver and car are available at that time.</a:t>
            </a:r>
          </a:p>
          <a:p>
            <a:r>
              <a:rPr lang="en-US" dirty="0"/>
              <a:t>If the requested time slot is taken, the system shows a message asking them to pick a different time. If the slot is available, the customer confirms their pickup location, and the system saves all the reservation details.</a:t>
            </a:r>
          </a:p>
          <a:p>
            <a:r>
              <a:rPr lang="en-US" dirty="0"/>
              <a:t>Finally, the driver and car schedules are updated, and the customer receives a confirmation of their booking.</a:t>
            </a:r>
          </a:p>
          <a:p>
            <a:r>
              <a:rPr lang="en-US" dirty="0"/>
              <a:t>This automated process reduces the workload on your secretary and allows customers to book lessons 24/7 from any device.</a:t>
            </a:r>
          </a:p>
        </p:txBody>
      </p:sp>
      <p:sp>
        <p:nvSpPr>
          <p:cNvPr id="4" name="Slide Number Placeholder 3"/>
          <p:cNvSpPr>
            <a:spLocks noGrp="1"/>
          </p:cNvSpPr>
          <p:nvPr>
            <p:ph type="sldNum" sz="quarter" idx="10"/>
          </p:nvPr>
        </p:nvSpPr>
        <p:spPr/>
        <p:txBody>
          <a:bodyPr/>
          <a:lstStyle/>
          <a:p>
            <a:fld id="{E0746DE6-3336-457D-A091-FA20AC1C536E}" type="slidenum">
              <a:rPr lang="en-US" smtClean="0"/>
              <a:t>4</a:t>
            </a:fld>
            <a:endParaRPr lang="en-US"/>
          </a:p>
        </p:txBody>
      </p:sp>
    </p:spTree>
    <p:extLst>
      <p:ext uri="{BB962C8B-B14F-4D97-AF65-F5344CB8AC3E}">
        <p14:creationId xmlns:p14="http://schemas.microsoft.com/office/powerpoint/2010/main" val="896184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was a major focus in our design because you are handling sensitive customer information including credit card numbers.</a:t>
            </a:r>
          </a:p>
          <a:p>
            <a:r>
              <a:rPr lang="en-US" dirty="0"/>
              <a:t>First, we implemented role-based access control. This means each type of user has different permissions. For example, only Ian as IT officer can reset passwords or block accounts.</a:t>
            </a:r>
          </a:p>
          <a:p>
            <a:r>
              <a:rPr lang="en-US" dirty="0"/>
              <a:t>Second, all passwords are stored securely and customers can reset their own passwords automatically through email, reducing the burden on your staff.</a:t>
            </a:r>
          </a:p>
          <a:p>
            <a:r>
              <a:rPr lang="en-US" dirty="0"/>
              <a:t>Third, all data transmitted between the customer's device and your servers will be encrypted using industry-standard security protocols. This protects credit card information and personal data from being intercepted.</a:t>
            </a:r>
          </a:p>
          <a:p>
            <a:r>
              <a:rPr lang="en-US" dirty="0"/>
              <a:t>Fourth, the system tracks all changes to reservations, including who made them and when. This creates an audit trail so you can print activity reports and determine who is responsible if any issues arise.</a:t>
            </a:r>
          </a:p>
          <a:p>
            <a:r>
              <a:rPr lang="en-US" dirty="0"/>
              <a:t>These security measures protect both your business and your customers while meeting industry standards for data protection.</a:t>
            </a:r>
          </a:p>
        </p:txBody>
      </p:sp>
      <p:sp>
        <p:nvSpPr>
          <p:cNvPr id="4" name="Slide Number Placeholder 3"/>
          <p:cNvSpPr>
            <a:spLocks noGrp="1"/>
          </p:cNvSpPr>
          <p:nvPr>
            <p:ph type="sldNum" sz="quarter" idx="10"/>
          </p:nvPr>
        </p:nvSpPr>
        <p:spPr/>
        <p:txBody>
          <a:bodyPr/>
          <a:lstStyle/>
          <a:p>
            <a:fld id="{E0746DE6-3336-457D-A091-FA20AC1C536E}" type="slidenum">
              <a:rPr lang="en-US" smtClean="0"/>
              <a:t>5</a:t>
            </a:fld>
            <a:endParaRPr lang="en-US"/>
          </a:p>
        </p:txBody>
      </p:sp>
    </p:spTree>
    <p:extLst>
      <p:ext uri="{BB962C8B-B14F-4D97-AF65-F5344CB8AC3E}">
        <p14:creationId xmlns:p14="http://schemas.microsoft.com/office/powerpoint/2010/main" val="3491611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our design addresses your core needs, there are some limitations to be aware of.</a:t>
            </a:r>
          </a:p>
          <a:p>
            <a:r>
              <a:rPr lang="en-US" dirty="0"/>
              <a:t>First, the system requires an internet connection for any updates or changes. While you can download reports for offline review in Excel, you cannot make modifications to data without being connected.</a:t>
            </a:r>
          </a:p>
          <a:p>
            <a:r>
              <a:rPr lang="en-US" dirty="0"/>
              <a:t>Second, if you want to add or remove training packages in the future, this will require developer assistance. We designed the system so you can enable or disable existing packages yourself, but creating entirely new package types needs technical support.</a:t>
            </a:r>
          </a:p>
          <a:p>
            <a:r>
              <a:rPr lang="en-US" dirty="0"/>
              <a:t>Third, the connection to the DMV for receiving rule updates depends on their system being available. If the DMV system is down, your system may not receive the latest updates immediately.</a:t>
            </a:r>
          </a:p>
          <a:p>
            <a:r>
              <a:rPr lang="en-US" dirty="0"/>
              <a:t>Fourth, because we are using a cloud hosting service for backups and security as you requested, your system depends on that provider being operational. We recommend selecting a reputable provider with strong uptime guarantees.</a:t>
            </a:r>
          </a:p>
          <a:p>
            <a:r>
              <a:rPr lang="en-US" dirty="0"/>
              <a:t>These limitations are common in web-based systems and represent reasonable tradeoffs for the convenience and accessibility you requested.</a:t>
            </a:r>
          </a:p>
        </p:txBody>
      </p:sp>
      <p:sp>
        <p:nvSpPr>
          <p:cNvPr id="4" name="Slide Number Placeholder 3"/>
          <p:cNvSpPr>
            <a:spLocks noGrp="1"/>
          </p:cNvSpPr>
          <p:nvPr>
            <p:ph type="sldNum" sz="quarter" idx="10"/>
          </p:nvPr>
        </p:nvSpPr>
        <p:spPr/>
        <p:txBody>
          <a:bodyPr/>
          <a:lstStyle/>
          <a:p>
            <a:fld id="{E0746DE6-3336-457D-A091-FA20AC1C536E}" type="slidenum">
              <a:rPr lang="en-US" smtClean="0"/>
              <a:t>6</a:t>
            </a:fld>
            <a:endParaRPr lang="en-US"/>
          </a:p>
        </p:txBody>
      </p:sp>
    </p:spTree>
    <p:extLst>
      <p:ext uri="{BB962C8B-B14F-4D97-AF65-F5344CB8AC3E}">
        <p14:creationId xmlns:p14="http://schemas.microsoft.com/office/powerpoint/2010/main" val="970660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91AB-F383-4237-A071-AD1C6E924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6636DA-4FDE-4B32-8CCE-37EFA3E757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F87932-8FF0-4DF1-A776-9A3CE37618A7}"/>
              </a:ext>
            </a:extLst>
          </p:cNvPr>
          <p:cNvSpPr>
            <a:spLocks noGrp="1"/>
          </p:cNvSpPr>
          <p:nvPr>
            <p:ph type="dt" sz="half" idx="10"/>
          </p:nvPr>
        </p:nvSpPr>
        <p:spPr/>
        <p:txBody>
          <a:bodyPr/>
          <a:lstStyle/>
          <a:p>
            <a:fld id="{5D6495F3-B757-4FAF-98AA-EDA7D1485485}" type="datetimeFigureOut">
              <a:rPr lang="en-US" smtClean="0"/>
              <a:t>12/14/2025</a:t>
            </a:fld>
            <a:endParaRPr lang="en-US"/>
          </a:p>
        </p:txBody>
      </p:sp>
      <p:sp>
        <p:nvSpPr>
          <p:cNvPr id="5" name="Footer Placeholder 4">
            <a:extLst>
              <a:ext uri="{FF2B5EF4-FFF2-40B4-BE49-F238E27FC236}">
                <a16:creationId xmlns:a16="http://schemas.microsoft.com/office/drawing/2014/main" id="{5F38FAB8-C9F1-4DBB-B355-D8DEE3706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490E3-D8E8-4766-9104-14009BF5636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45690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C967-18DB-4664-9B4D-06177FB946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DF7174-64B4-4D8F-BF44-3DD1F66CAD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D83D3-86C4-482F-A2DC-B4C55DBF3F7A}"/>
              </a:ext>
            </a:extLst>
          </p:cNvPr>
          <p:cNvSpPr>
            <a:spLocks noGrp="1"/>
          </p:cNvSpPr>
          <p:nvPr>
            <p:ph type="dt" sz="half" idx="10"/>
          </p:nvPr>
        </p:nvSpPr>
        <p:spPr/>
        <p:txBody>
          <a:bodyPr/>
          <a:lstStyle/>
          <a:p>
            <a:fld id="{5D6495F3-B757-4FAF-98AA-EDA7D1485485}" type="datetimeFigureOut">
              <a:rPr lang="en-US" smtClean="0"/>
              <a:t>12/14/2025</a:t>
            </a:fld>
            <a:endParaRPr lang="en-US"/>
          </a:p>
        </p:txBody>
      </p:sp>
      <p:sp>
        <p:nvSpPr>
          <p:cNvPr id="5" name="Footer Placeholder 4">
            <a:extLst>
              <a:ext uri="{FF2B5EF4-FFF2-40B4-BE49-F238E27FC236}">
                <a16:creationId xmlns:a16="http://schemas.microsoft.com/office/drawing/2014/main" id="{DCF05BE2-6C23-4CB4-A63E-457E635BF2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097965-24FE-4C07-BE16-69AE439950E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275768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394D-04EF-440C-B08B-114464B315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EBE3F6-F021-4D6B-8B0D-EF74D7461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96233C-6806-4593-91C0-CF4ECD84A601}"/>
              </a:ext>
            </a:extLst>
          </p:cNvPr>
          <p:cNvSpPr>
            <a:spLocks noGrp="1"/>
          </p:cNvSpPr>
          <p:nvPr>
            <p:ph type="dt" sz="half" idx="10"/>
          </p:nvPr>
        </p:nvSpPr>
        <p:spPr/>
        <p:txBody>
          <a:bodyPr/>
          <a:lstStyle/>
          <a:p>
            <a:fld id="{5D6495F3-B757-4FAF-98AA-EDA7D1485485}" type="datetimeFigureOut">
              <a:rPr lang="en-US" smtClean="0"/>
              <a:t>12/14/2025</a:t>
            </a:fld>
            <a:endParaRPr lang="en-US"/>
          </a:p>
        </p:txBody>
      </p:sp>
      <p:sp>
        <p:nvSpPr>
          <p:cNvPr id="5" name="Footer Placeholder 4">
            <a:extLst>
              <a:ext uri="{FF2B5EF4-FFF2-40B4-BE49-F238E27FC236}">
                <a16:creationId xmlns:a16="http://schemas.microsoft.com/office/drawing/2014/main" id="{963A761E-2D3A-4397-A82C-2F3B981DE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297E71-B59F-4260-B01B-2B7CEB0896B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639326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DFCB-DD40-4637-9CAB-2BAF24231C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94065F-4B44-4622-98EE-166F936489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AF1249-B890-4466-9E24-84A2490700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0FA9B4-D282-452F-B78A-FF5873ACF45A}"/>
              </a:ext>
            </a:extLst>
          </p:cNvPr>
          <p:cNvSpPr>
            <a:spLocks noGrp="1"/>
          </p:cNvSpPr>
          <p:nvPr>
            <p:ph type="dt" sz="half" idx="10"/>
          </p:nvPr>
        </p:nvSpPr>
        <p:spPr/>
        <p:txBody>
          <a:bodyPr/>
          <a:lstStyle/>
          <a:p>
            <a:fld id="{5D6495F3-B757-4FAF-98AA-EDA7D1485485}" type="datetimeFigureOut">
              <a:rPr lang="en-US" smtClean="0"/>
              <a:t>12/14/2025</a:t>
            </a:fld>
            <a:endParaRPr lang="en-US"/>
          </a:p>
        </p:txBody>
      </p:sp>
      <p:sp>
        <p:nvSpPr>
          <p:cNvPr id="6" name="Footer Placeholder 5">
            <a:extLst>
              <a:ext uri="{FF2B5EF4-FFF2-40B4-BE49-F238E27FC236}">
                <a16:creationId xmlns:a16="http://schemas.microsoft.com/office/drawing/2014/main" id="{6E9B0F13-A139-4B66-9544-16480800F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791D0-EC30-4D8C-8764-475D8DB34F1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081502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3AA7D-15D2-4D5F-B1C4-501073416D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E80A0E-25B9-4E8E-8B0D-201E1C564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89B111-0CA0-47CD-9F0B-DBCBA3AE3C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F0E02D-3176-4B85-ACB6-721F26827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7D9317-BBE1-4F36-82FE-E348F6F18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37DDCB-69F8-49FA-A111-C8AB271389E7}"/>
              </a:ext>
            </a:extLst>
          </p:cNvPr>
          <p:cNvSpPr>
            <a:spLocks noGrp="1"/>
          </p:cNvSpPr>
          <p:nvPr>
            <p:ph type="dt" sz="half" idx="10"/>
          </p:nvPr>
        </p:nvSpPr>
        <p:spPr/>
        <p:txBody>
          <a:bodyPr/>
          <a:lstStyle/>
          <a:p>
            <a:fld id="{5D6495F3-B757-4FAF-98AA-EDA7D1485485}" type="datetimeFigureOut">
              <a:rPr lang="en-US" smtClean="0"/>
              <a:t>12/14/2025</a:t>
            </a:fld>
            <a:endParaRPr lang="en-US"/>
          </a:p>
        </p:txBody>
      </p:sp>
      <p:sp>
        <p:nvSpPr>
          <p:cNvPr id="8" name="Footer Placeholder 7">
            <a:extLst>
              <a:ext uri="{FF2B5EF4-FFF2-40B4-BE49-F238E27FC236}">
                <a16:creationId xmlns:a16="http://schemas.microsoft.com/office/drawing/2014/main" id="{4A18B0CD-1F68-412E-9232-F267114CA7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9B21FC-12CC-472D-BC38-EF413158CC5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894143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51AB-8384-4E67-914C-B39484AD23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909660-3861-4545-BF68-9ED039B5D0F0}"/>
              </a:ext>
            </a:extLst>
          </p:cNvPr>
          <p:cNvSpPr>
            <a:spLocks noGrp="1"/>
          </p:cNvSpPr>
          <p:nvPr>
            <p:ph type="dt" sz="half" idx="10"/>
          </p:nvPr>
        </p:nvSpPr>
        <p:spPr/>
        <p:txBody>
          <a:bodyPr/>
          <a:lstStyle/>
          <a:p>
            <a:fld id="{5D6495F3-B757-4FAF-98AA-EDA7D1485485}" type="datetimeFigureOut">
              <a:rPr lang="en-US" smtClean="0"/>
              <a:t>12/14/2025</a:t>
            </a:fld>
            <a:endParaRPr lang="en-US"/>
          </a:p>
        </p:txBody>
      </p:sp>
      <p:sp>
        <p:nvSpPr>
          <p:cNvPr id="4" name="Footer Placeholder 3">
            <a:extLst>
              <a:ext uri="{FF2B5EF4-FFF2-40B4-BE49-F238E27FC236}">
                <a16:creationId xmlns:a16="http://schemas.microsoft.com/office/drawing/2014/main" id="{FDDD5392-AC3A-4EAF-ADE6-B6CF4B50AC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679880-BF48-4F4D-B8B3-4E99FC415FF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35148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F98E25-CF37-4F73-9E22-210238167867}"/>
              </a:ext>
            </a:extLst>
          </p:cNvPr>
          <p:cNvSpPr>
            <a:spLocks noGrp="1"/>
          </p:cNvSpPr>
          <p:nvPr>
            <p:ph type="dt" sz="half" idx="10"/>
          </p:nvPr>
        </p:nvSpPr>
        <p:spPr/>
        <p:txBody>
          <a:bodyPr/>
          <a:lstStyle/>
          <a:p>
            <a:fld id="{5D6495F3-B757-4FAF-98AA-EDA7D1485485}" type="datetimeFigureOut">
              <a:rPr lang="en-US" smtClean="0"/>
              <a:t>12/14/2025</a:t>
            </a:fld>
            <a:endParaRPr lang="en-US"/>
          </a:p>
        </p:txBody>
      </p:sp>
      <p:sp>
        <p:nvSpPr>
          <p:cNvPr id="3" name="Footer Placeholder 2">
            <a:extLst>
              <a:ext uri="{FF2B5EF4-FFF2-40B4-BE49-F238E27FC236}">
                <a16:creationId xmlns:a16="http://schemas.microsoft.com/office/drawing/2014/main" id="{89D7A0E1-38AB-4FDA-8EC1-2D7617909C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A8E424-5A91-4557-9ADF-4A9422A0690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49780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B935-0427-44CC-A384-333EAD83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B9DCF6-55CF-43EE-B135-BFC4B4D40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37538E-A112-4E8F-A445-1A06B0C35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30D413-9505-4ED8-BFF1-5141BE9EE3C4}"/>
              </a:ext>
            </a:extLst>
          </p:cNvPr>
          <p:cNvSpPr>
            <a:spLocks noGrp="1"/>
          </p:cNvSpPr>
          <p:nvPr>
            <p:ph type="dt" sz="half" idx="10"/>
          </p:nvPr>
        </p:nvSpPr>
        <p:spPr/>
        <p:txBody>
          <a:bodyPr/>
          <a:lstStyle/>
          <a:p>
            <a:fld id="{5D6495F3-B757-4FAF-98AA-EDA7D1485485}" type="datetimeFigureOut">
              <a:rPr lang="en-US" smtClean="0"/>
              <a:t>12/14/2025</a:t>
            </a:fld>
            <a:endParaRPr lang="en-US"/>
          </a:p>
        </p:txBody>
      </p:sp>
      <p:sp>
        <p:nvSpPr>
          <p:cNvPr id="6" name="Footer Placeholder 5">
            <a:extLst>
              <a:ext uri="{FF2B5EF4-FFF2-40B4-BE49-F238E27FC236}">
                <a16:creationId xmlns:a16="http://schemas.microsoft.com/office/drawing/2014/main" id="{F60815B0-4528-4FA2-8472-8F19C0F16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C9FCEF-4406-4552-BFE4-6DA3761357F2}"/>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754063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E22C-69D4-49EC-8858-787B3C67B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6A4341-3C0B-4025-AE17-8F0F8FABF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F5FF01-E0B6-419C-ABCC-70844E4EAC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501218-FFD7-4F25-B220-F5DE5F70693C}"/>
              </a:ext>
            </a:extLst>
          </p:cNvPr>
          <p:cNvSpPr>
            <a:spLocks noGrp="1"/>
          </p:cNvSpPr>
          <p:nvPr>
            <p:ph type="dt" sz="half" idx="10"/>
          </p:nvPr>
        </p:nvSpPr>
        <p:spPr/>
        <p:txBody>
          <a:bodyPr/>
          <a:lstStyle/>
          <a:p>
            <a:fld id="{5D6495F3-B757-4FAF-98AA-EDA7D1485485}" type="datetimeFigureOut">
              <a:rPr lang="en-US" smtClean="0"/>
              <a:t>12/14/2025</a:t>
            </a:fld>
            <a:endParaRPr lang="en-US"/>
          </a:p>
        </p:txBody>
      </p:sp>
      <p:sp>
        <p:nvSpPr>
          <p:cNvPr id="6" name="Footer Placeholder 5">
            <a:extLst>
              <a:ext uri="{FF2B5EF4-FFF2-40B4-BE49-F238E27FC236}">
                <a16:creationId xmlns:a16="http://schemas.microsoft.com/office/drawing/2014/main" id="{9687CBFB-34A6-49D8-A1D2-45DF38876E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2726A4-D33A-486A-B120-648AF3D8BA76}"/>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644743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8678-553E-4A5B-8CFE-5DB358BDF3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3AF303-1F73-4575-83E6-561589F16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36EC56-7DCF-400D-A871-C26291EB10AD}"/>
              </a:ext>
            </a:extLst>
          </p:cNvPr>
          <p:cNvSpPr>
            <a:spLocks noGrp="1"/>
          </p:cNvSpPr>
          <p:nvPr>
            <p:ph type="dt" sz="half" idx="10"/>
          </p:nvPr>
        </p:nvSpPr>
        <p:spPr/>
        <p:txBody>
          <a:bodyPr/>
          <a:lstStyle/>
          <a:p>
            <a:fld id="{5D6495F3-B757-4FAF-98AA-EDA7D1485485}" type="datetimeFigureOut">
              <a:rPr lang="en-US" smtClean="0"/>
              <a:t>12/14/2025</a:t>
            </a:fld>
            <a:endParaRPr lang="en-US"/>
          </a:p>
        </p:txBody>
      </p:sp>
      <p:sp>
        <p:nvSpPr>
          <p:cNvPr id="5" name="Footer Placeholder 4">
            <a:extLst>
              <a:ext uri="{FF2B5EF4-FFF2-40B4-BE49-F238E27FC236}">
                <a16:creationId xmlns:a16="http://schemas.microsoft.com/office/drawing/2014/main" id="{17FFAC5B-7C77-4F8C-ADB0-8D208A2EB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F48AF-AB8F-4DD2-BC77-7E2F42AD3B87}"/>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187317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0ED820-BFE6-41B5-8064-984037A999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A27FEA-5359-474A-B4F8-FF510DD748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DD33D-563C-4B8C-B8C1-625FF5C5B85D}"/>
              </a:ext>
            </a:extLst>
          </p:cNvPr>
          <p:cNvSpPr>
            <a:spLocks noGrp="1"/>
          </p:cNvSpPr>
          <p:nvPr>
            <p:ph type="dt" sz="half" idx="10"/>
          </p:nvPr>
        </p:nvSpPr>
        <p:spPr/>
        <p:txBody>
          <a:bodyPr/>
          <a:lstStyle/>
          <a:p>
            <a:fld id="{5D6495F3-B757-4FAF-98AA-EDA7D1485485}" type="datetimeFigureOut">
              <a:rPr lang="en-US" smtClean="0"/>
              <a:t>12/14/2025</a:t>
            </a:fld>
            <a:endParaRPr lang="en-US"/>
          </a:p>
        </p:txBody>
      </p:sp>
      <p:sp>
        <p:nvSpPr>
          <p:cNvPr id="5" name="Footer Placeholder 4">
            <a:extLst>
              <a:ext uri="{FF2B5EF4-FFF2-40B4-BE49-F238E27FC236}">
                <a16:creationId xmlns:a16="http://schemas.microsoft.com/office/drawing/2014/main" id="{40471877-89FD-46BE-832F-C5660A5567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6E675F-CC4D-48CF-90C8-53829EE08B8C}"/>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454621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07C8C3-4165-4353-ABF2-492454AF9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9AA46A-3C66-4E4A-9907-225E50ABB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7F8214-A11A-4309-9D51-44F35987D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495F3-B757-4FAF-98AA-EDA7D1485485}" type="datetimeFigureOut">
              <a:rPr lang="en-US" smtClean="0"/>
              <a:t>12/14/2025</a:t>
            </a:fld>
            <a:endParaRPr lang="en-US"/>
          </a:p>
        </p:txBody>
      </p:sp>
      <p:sp>
        <p:nvSpPr>
          <p:cNvPr id="5" name="Footer Placeholder 4">
            <a:extLst>
              <a:ext uri="{FF2B5EF4-FFF2-40B4-BE49-F238E27FC236}">
                <a16:creationId xmlns:a16="http://schemas.microsoft.com/office/drawing/2014/main" id="{D6A334EB-8260-4F13-9553-5A8593D9DC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1EF96-E028-4E68-864E-9B77CF9F25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1939C1-24D7-49E9-A58A-7960365209F5}" type="slidenum">
              <a:rPr lang="en-US" smtClean="0"/>
              <a:t>‹#›</a:t>
            </a:fld>
            <a:endParaRPr lang="en-US"/>
          </a:p>
        </p:txBody>
      </p:sp>
    </p:spTree>
    <p:extLst>
      <p:ext uri="{BB962C8B-B14F-4D97-AF65-F5344CB8AC3E}">
        <p14:creationId xmlns:p14="http://schemas.microsoft.com/office/powerpoint/2010/main" val="1825945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3045368" y="2043663"/>
            <a:ext cx="6105194" cy="2031055"/>
          </a:xfrm>
        </p:spPr>
        <p:txBody>
          <a:bodyPr>
            <a:normAutofit/>
          </a:bodyPr>
          <a:lstStyle/>
          <a:p>
            <a:pPr marL="0" indent="0">
              <a:buNone/>
            </a:pPr>
            <a:r>
              <a:rPr>
                <a:solidFill>
                  <a:srgbClr val="FFFFFF"/>
                </a:solidFill>
              </a:rPr>
              <a:t>DriverPass</a:t>
            </a:r>
            <a:br>
              <a:rPr>
                <a:solidFill>
                  <a:srgbClr val="FFFFFF"/>
                </a:solidFill>
              </a:rPr>
            </a:br>
            <a:r>
              <a:rPr>
                <a:solidFill>
                  <a:srgbClr val="FFFFFF"/>
                </a:solidFill>
              </a:rPr>
              <a:t>System Analysis</a:t>
            </a:r>
          </a:p>
        </p:txBody>
      </p:sp>
      <p:sp>
        <p:nvSpPr>
          <p:cNvPr id="3" name="Content Placeholder 2"/>
          <p:cNvSpPr>
            <a:spLocks noGrp="1"/>
          </p:cNvSpPr>
          <p:nvPr>
            <p:ph type="subTitle" idx="1"/>
          </p:nvPr>
        </p:nvSpPr>
        <p:spPr>
          <a:xfrm>
            <a:off x="3045368" y="4074718"/>
            <a:ext cx="6105194" cy="682079"/>
          </a:xfrm>
        </p:spPr>
        <p:txBody>
          <a:bodyPr>
            <a:normAutofit/>
          </a:bodyPr>
          <a:lstStyle/>
          <a:p>
            <a:pPr marL="0" indent="0">
              <a:buNone/>
            </a:pPr>
            <a:r>
              <a:rPr>
                <a:solidFill>
                  <a:srgbClr val="FFFFFF"/>
                </a:solidFill>
              </a:rPr>
              <a:t>Student Name</a:t>
            </a:r>
            <a:endParaRPr dirty="0">
              <a:solidFill>
                <a:srgbClr val="FFFFFF"/>
              </a:solidFill>
            </a:endParaRPr>
          </a:p>
        </p:txBody>
      </p:sp>
    </p:spTree>
    <p:custDataLst>
      <p:tags r:id="rId1"/>
    </p:custDataLst>
    <p:extLst>
      <p:ext uri="{BB962C8B-B14F-4D97-AF65-F5344CB8AC3E}">
        <p14:creationId xmlns:p14="http://schemas.microsoft.com/office/powerpoint/2010/main" val="409182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pPr marL="0" indent="0">
              <a:buNone/>
            </a:pPr>
            <a:r>
              <a:rPr>
                <a:solidFill>
                  <a:schemeClr val="bg1"/>
                </a:solidFill>
              </a:rPr>
              <a:t>System Requirements</a:t>
            </a:r>
          </a:p>
        </p:txBody>
      </p:sp>
      <p:sp>
        <p:nvSpPr>
          <p:cNvPr id="3" name="Content Placeholder 2"/>
          <p:cNvSpPr>
            <a:spLocks noGrp="1"/>
          </p:cNvSpPr>
          <p:nvPr>
            <p:ph idx="1"/>
          </p:nvPr>
        </p:nvSpPr>
        <p:spPr>
          <a:xfrm>
            <a:off x="6090574" y="801866"/>
            <a:ext cx="5306084" cy="5230634"/>
          </a:xfrm>
        </p:spPr>
        <p:txBody>
          <a:bodyPr anchor="ctr">
            <a:normAutofit/>
          </a:bodyPr>
          <a:lstStyle/>
          <a:p>
            <a:pPr marL="0" indent="0">
              <a:buNone/>
            </a:pPr>
            <a:r>
              <a:rPr sz="2400" b="1">
                <a:solidFill>
                  <a:srgbClr val="000000"/>
                </a:solidFill>
              </a:rPr>
              <a:t>Functional Requirements</a:t>
            </a:r>
            <a:endParaRPr sz="2400" dirty="0">
              <a:solidFill>
                <a:srgbClr val="000000"/>
              </a:solidFill>
            </a:endParaRPr>
          </a:p>
          <a:p>
            <a:pPr marL="406400" indent="-203200" algn="l">
              <a:buChar char="•"/>
            </a:pPr>
            <a:r>
              <a:rPr sz="2000">
                <a:solidFill>
                  <a:srgbClr val="000000"/>
                </a:solidFill>
              </a:rPr>
              <a:t>Online reservation scheduling for driving lessons</a:t>
            </a:r>
          </a:p>
          <a:p>
            <a:pPr marL="406400" indent="-203200" algn="l">
              <a:buChar char="•"/>
            </a:pPr>
            <a:r>
              <a:rPr sz="2000">
                <a:solidFill>
                  <a:srgbClr val="000000"/>
                </a:solidFill>
              </a:rPr>
              <a:t>User account management with password reset</a:t>
            </a:r>
          </a:p>
          <a:p>
            <a:pPr marL="0" indent="0">
              <a:buNone/>
            </a:pPr>
            <a:r>
              <a:rPr sz="2400" b="1">
                <a:solidFill>
                  <a:srgbClr val="000000"/>
                </a:solidFill>
              </a:rPr>
              <a:t>Nonfunctional Requirements</a:t>
            </a:r>
          </a:p>
          <a:p>
            <a:pPr marL="406400" indent="-203200" algn="l">
              <a:buChar char="•"/>
            </a:pPr>
            <a:r>
              <a:rPr sz="2000">
                <a:solidFill>
                  <a:srgbClr val="000000"/>
                </a:solidFill>
              </a:rPr>
              <a:t>Cloud-based hosting with automatic backups</a:t>
            </a:r>
          </a:p>
          <a:p>
            <a:pPr marL="406400" indent="-203200" algn="l">
              <a:buChar char="•"/>
            </a:pPr>
            <a:r>
              <a:rPr sz="2000">
                <a:solidFill>
                  <a:srgbClr val="000000"/>
                </a:solidFill>
              </a:rPr>
              <a:t>Accessible from any device via web browser</a:t>
            </a:r>
          </a:p>
        </p:txBody>
      </p:sp>
    </p:spTree>
    <p:custDataLst>
      <p:tags r:id="rId1"/>
    </p:custDataLst>
    <p:extLst>
      <p:ext uri="{BB962C8B-B14F-4D97-AF65-F5344CB8AC3E}">
        <p14:creationId xmlns:p14="http://schemas.microsoft.com/office/powerpoint/2010/main" val="1865885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pPr marL="0" indent="0">
              <a:buNone/>
            </a:pPr>
            <a:r>
              <a:rPr>
                <a:solidFill>
                  <a:schemeClr val="bg1"/>
                </a:solidFill>
              </a:rPr>
              <a:t>Use Case Diagram</a:t>
            </a:r>
            <a:endParaRPr lang="en-US" dirty="0">
              <a:solidFill>
                <a:schemeClr val="bg1"/>
              </a:solidFill>
            </a:endParaRPr>
          </a:p>
        </p:txBody>
      </p:sp>
      <p:pic>
        <p:nvPicPr>
          <p:cNvPr id="100" name="Use Case Diagram"/>
          <p:cNvPicPr>
            <a:picLocks noChangeAspect="1"/>
          </p:cNvPicPr>
          <p:nvPr/>
        </p:nvPicPr>
        <p:blipFill>
          <a:blip r:embed="rId5"/>
          <a:stretch>
            <a:fillRect/>
          </a:stretch>
        </p:blipFill>
        <p:spPr>
          <a:xfrm>
            <a:off x="6090574" y="801866"/>
            <a:ext cx="5306084" cy="5230634"/>
          </a:xfrm>
          <a:prstGeom prst="rect">
            <a:avLst/>
          </a:prstGeom>
        </p:spPr>
      </p:pic>
    </p:spTree>
    <p:custDataLst>
      <p:tags r:id="rId1"/>
    </p:custDataLst>
    <p:extLst>
      <p:ext uri="{BB962C8B-B14F-4D97-AF65-F5344CB8AC3E}">
        <p14:creationId xmlns:p14="http://schemas.microsoft.com/office/powerpoint/2010/main" val="2776425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pPr marL="0" indent="0">
              <a:buNone/>
            </a:pPr>
            <a:r>
              <a:rPr>
                <a:solidFill>
                  <a:schemeClr val="bg1"/>
                </a:solidFill>
              </a:rPr>
              <a:t>Activity Diagram</a:t>
            </a:r>
            <a:endParaRPr lang="en-US" dirty="0">
              <a:solidFill>
                <a:schemeClr val="bg1"/>
              </a:solidFill>
            </a:endParaRPr>
          </a:p>
        </p:txBody>
      </p:sp>
      <p:pic>
        <p:nvPicPr>
          <p:cNvPr id="101" name="Activity Diagram"/>
          <p:cNvPicPr>
            <a:picLocks noChangeAspect="1"/>
          </p:cNvPicPr>
          <p:nvPr/>
        </p:nvPicPr>
        <p:blipFill>
          <a:blip r:embed="rId5"/>
          <a:stretch>
            <a:fillRect/>
          </a:stretch>
        </p:blipFill>
        <p:spPr>
          <a:xfrm>
            <a:off x="6090574" y="801866"/>
            <a:ext cx="5306084" cy="5230634"/>
          </a:xfrm>
          <a:prstGeom prst="rect">
            <a:avLst/>
          </a:prstGeom>
        </p:spPr>
      </p:pic>
    </p:spTree>
    <p:custDataLst>
      <p:tags r:id="rId1"/>
    </p:custDataLst>
    <p:extLst>
      <p:ext uri="{BB962C8B-B14F-4D97-AF65-F5344CB8AC3E}">
        <p14:creationId xmlns:p14="http://schemas.microsoft.com/office/powerpoint/2010/main" val="3564055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pPr marL="0" indent="0">
              <a:buNone/>
            </a:pPr>
            <a:r>
              <a:rPr>
                <a:solidFill>
                  <a:schemeClr val="bg1"/>
                </a:solidFill>
              </a:rPr>
              <a:t>Security</a:t>
            </a:r>
            <a:endParaRPr lang="en-US" dirty="0">
              <a:solidFill>
                <a:schemeClr val="bg1"/>
              </a:solidFill>
            </a:endParaRPr>
          </a:p>
        </p:txBody>
      </p:sp>
      <p:sp>
        <p:nvSpPr>
          <p:cNvPr id="3" name="Content Placeholder 2"/>
          <p:cNvSpPr>
            <a:spLocks noGrp="1"/>
          </p:cNvSpPr>
          <p:nvPr>
            <p:ph idx="1"/>
          </p:nvPr>
        </p:nvSpPr>
        <p:spPr>
          <a:xfrm>
            <a:off x="6090574" y="801866"/>
            <a:ext cx="5306084" cy="5230634"/>
          </a:xfrm>
        </p:spPr>
        <p:txBody>
          <a:bodyPr anchor="ctr">
            <a:normAutofit/>
          </a:bodyPr>
          <a:lstStyle/>
          <a:p>
            <a:pPr marL="406400" indent="-203200" algn="l">
              <a:buChar char="•"/>
            </a:pPr>
            <a:r>
              <a:rPr sz="2000">
                <a:solidFill>
                  <a:srgbClr val="000000"/>
                </a:solidFill>
              </a:rPr>
              <a:t>Role-based access control for different user types</a:t>
            </a:r>
            <a:endParaRPr sz="2400" dirty="0">
              <a:solidFill>
                <a:srgbClr val="000000"/>
              </a:solidFill>
            </a:endParaRPr>
          </a:p>
          <a:p>
            <a:pPr marL="406400" indent="-203200" algn="l">
              <a:buChar char="•"/>
            </a:pPr>
            <a:r>
              <a:rPr sz="2000">
                <a:solidFill>
                  <a:srgbClr val="000000"/>
                </a:solidFill>
              </a:rPr>
              <a:t>Secure password storage with reset capability</a:t>
            </a:r>
          </a:p>
          <a:p>
            <a:pPr marL="406400" indent="-203200" algn="l">
              <a:buChar char="•"/>
            </a:pPr>
            <a:r>
              <a:rPr sz="2000">
                <a:solidFill>
                  <a:srgbClr val="000000"/>
                </a:solidFill>
              </a:rPr>
              <a:t>Encrypted data transmission (SSL/TLS)</a:t>
            </a:r>
          </a:p>
          <a:p>
            <a:pPr marL="406400" indent="-203200" algn="l">
              <a:buChar char="•"/>
            </a:pPr>
            <a:r>
              <a:rPr sz="2000">
                <a:solidFill>
                  <a:srgbClr val="000000"/>
                </a:solidFill>
              </a:rPr>
              <a:t>Activity tracking and audit logs</a:t>
            </a:r>
          </a:p>
          <a:p>
            <a:pPr marL="406400" indent="-203200" algn="l">
              <a:buChar char="•"/>
            </a:pPr>
            <a:r>
              <a:rPr sz="2000">
                <a:solidFill>
                  <a:srgbClr val="000000"/>
                </a:solidFill>
              </a:rPr>
              <a:t>IT admin control over user accounts</a:t>
            </a:r>
          </a:p>
        </p:txBody>
      </p:sp>
    </p:spTree>
    <p:custDataLst>
      <p:tags r:id="rId1"/>
    </p:custDataLst>
    <p:extLst>
      <p:ext uri="{BB962C8B-B14F-4D97-AF65-F5344CB8AC3E}">
        <p14:creationId xmlns:p14="http://schemas.microsoft.com/office/powerpoint/2010/main" val="376843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pPr marL="0" indent="0">
              <a:buNone/>
            </a:pPr>
            <a:r>
              <a:rPr>
                <a:solidFill>
                  <a:schemeClr val="bg1"/>
                </a:solidFill>
              </a:rPr>
              <a:t>System Limitations</a:t>
            </a:r>
            <a:endParaRPr lang="en-US" dirty="0">
              <a:solidFill>
                <a:schemeClr val="bg1"/>
              </a:solidFill>
            </a:endParaRPr>
          </a:p>
        </p:txBody>
      </p:sp>
      <p:sp>
        <p:nvSpPr>
          <p:cNvPr id="3" name="Content Placeholder 2"/>
          <p:cNvSpPr>
            <a:spLocks noGrp="1"/>
          </p:cNvSpPr>
          <p:nvPr>
            <p:ph type="body" idx="1"/>
          </p:nvPr>
        </p:nvSpPr>
        <p:spPr>
          <a:xfrm>
            <a:off x="6090574" y="801866"/>
            <a:ext cx="5306084" cy="5230634"/>
          </a:xfrm>
        </p:spPr>
        <p:txBody>
          <a:bodyPr anchor="ctr">
            <a:normAutofit/>
          </a:bodyPr>
          <a:lstStyle/>
          <a:p>
            <a:pPr marL="406400" indent="-203200" algn="l">
              <a:buChar char="•"/>
            </a:pPr>
            <a:r>
              <a:rPr sz="2000">
                <a:solidFill>
                  <a:srgbClr val="000000"/>
                </a:solidFill>
              </a:rPr>
              <a:t>Internet connection required for all updates</a:t>
            </a:r>
            <a:endParaRPr sz="2400" dirty="0">
              <a:solidFill>
                <a:srgbClr val="000000"/>
              </a:solidFill>
            </a:endParaRPr>
          </a:p>
          <a:p>
            <a:pPr marL="406400" indent="-203200" algn="l">
              <a:buChar char="•"/>
            </a:pPr>
            <a:r>
              <a:rPr sz="2000">
                <a:solidFill>
                  <a:srgbClr val="000000"/>
                </a:solidFill>
              </a:rPr>
              <a:t>Package customization requires developer support</a:t>
            </a:r>
          </a:p>
          <a:p>
            <a:pPr marL="406400" indent="-203200" algn="l">
              <a:buChar char="•"/>
            </a:pPr>
            <a:r>
              <a:rPr sz="2000">
                <a:solidFill>
                  <a:srgbClr val="000000"/>
                </a:solidFill>
              </a:rPr>
              <a:t>DMV integration depends on external availability</a:t>
            </a:r>
          </a:p>
          <a:p>
            <a:pPr marL="406400" indent="-203200" algn="l">
              <a:buChar char="•"/>
            </a:pPr>
            <a:r>
              <a:rPr sz="2000">
                <a:solidFill>
                  <a:srgbClr val="000000"/>
                </a:solidFill>
              </a:rPr>
              <a:t>System relies on third-party cloud provider</a:t>
            </a:r>
          </a:p>
        </p:txBody>
      </p:sp>
    </p:spTree>
    <p:custDataLst>
      <p:tags r:id="rId1"/>
    </p:custDataLst>
    <p:extLst>
      <p:ext uri="{BB962C8B-B14F-4D97-AF65-F5344CB8AC3E}">
        <p14:creationId xmlns:p14="http://schemas.microsoft.com/office/powerpoint/2010/main" val="32251416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WebD281</Template>
  <TotalTime>1342</TotalTime>
  <Words>896</Words>
  <Application>Microsoft Office PowerPoint</Application>
  <PresentationFormat>Widescreen</PresentationFormat>
  <Paragraphs>55</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DriverPass System Analysis</vt:lpstr>
      <vt:lpstr>System Requirements</vt:lpstr>
      <vt:lpstr>Use Case Diagram</vt:lpstr>
      <vt:lpstr>Activity Diagram</vt:lpstr>
      <vt:lpstr>Security</vt:lpstr>
      <vt:lpstr>System 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dc:title>
  <dc:creator>Loay Alnaji</dc:creator>
  <cp:lastModifiedBy>Minerva Sharp</cp:lastModifiedBy>
  <cp:revision>22</cp:revision>
  <dcterms:created xsi:type="dcterms:W3CDTF">2019-10-14T02:36:52Z</dcterms:created>
  <dcterms:modified xsi:type="dcterms:W3CDTF">2025-12-14T10:09:18Z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17B2C008-CF5F-4D7E-BF2C-A283A0269B28</vt:lpwstr>
  </property>
  <property fmtid="{D5CDD505-2E9C-101B-9397-08002B2CF9AE}" pid="3" name="ArticulatePath">
    <vt:lpwstr>CS 255 Client Presentation Template</vt:lpwstr>
  </property>
</Properties>
</file>